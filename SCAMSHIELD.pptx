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0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12192000"/>
  <p:embeddedFontLst>
    <p:embeddedFont>
      <p:font typeface="Heebo" pitchFamily="2" charset="-79"/>
      <p:regular r:id="rId12"/>
      <p:bold r:id="rId13"/>
    </p:embeddedFont>
    <p:embeddedFont>
      <p:font typeface="Heebo Bold" charset="-79"/>
      <p:regular r:id="rId14"/>
    </p:embeddedFont>
    <p:embeddedFont>
      <p:font typeface="Heebo Light" pitchFamily="2" charset="-79"/>
      <p:regular r:id="rId15"/>
    </p:embeddedFont>
    <p:embeddedFont>
      <p:font typeface="Heebo Medium" pitchFamily="2" charset="-79"/>
      <p:regular r:id="rId16"/>
    </p:embeddedFont>
    <p:embeddedFont>
      <p:font typeface="Heebo SemiBold" panose="020B0604020202020204" charset="-79"/>
      <p:regular r:id="rId17"/>
    </p:embeddedFont>
    <p:embeddedFont>
      <p:font typeface="Montserrat Medium" panose="00000600000000000000" pitchFamily="2" charset="0"/>
      <p:regular r:id="rId18"/>
    </p:embeddedFont>
    <p:embeddedFont>
      <p:font typeface="Montserrat SemiBold" panose="00000700000000000000" pitchFamily="2" charset="0"/>
      <p:regular r:id="rId19"/>
      <p:bold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A2C"/>
    <a:srgbClr val="0100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446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judges. Scammers steal billions every year, not by hacking servers, but by deceiving people inside trusted messaging apps. ScamShield intercepts the threat at the conversation layer before money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ScamShield doesn't just guess; it breaks down the entire dialogue history to expose the underlying psychological manipulation in plain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pipeline: Ingestion, entity extraction, AI pattern matching, human-readable evidence synthesis, and finally clear, calm instruction on what to do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build user trust by showing our work. Before sounding an alarm, the system extracts concrete evidence so the person understands exactly why they should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this realistic three-message exchange. Individually, they mimic real support interactions. Together, they form an undeniable signature of credential theft.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alarm without clear next steps induces panic, and panicked users comply with attackers. ScamShield gives users an immediate, safe off-ramp before money or credentials leave their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0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D0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875" y="431800"/>
            <a:ext cx="685147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63558" y="1243608"/>
            <a:ext cx="2059730" cy="31651"/>
          </a:xfrm>
          <a:prstGeom prst="roundRect">
            <a:avLst>
              <a:gd name="adj" fmla="val 49998"/>
            </a:avLst>
          </a:prstGeom>
          <a:solidFill>
            <a:srgbClr val="9857F9"/>
          </a:solidFill>
          <a:ln/>
        </p:spPr>
      </p:sp>
      <p:sp>
        <p:nvSpPr>
          <p:cNvPr id="5" name="Text 3"/>
          <p:cNvSpPr/>
          <p:nvPr/>
        </p:nvSpPr>
        <p:spPr>
          <a:xfrm>
            <a:off x="663558" y="1689695"/>
            <a:ext cx="6241894" cy="780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400" kern="100" spc="-224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SCAMSHIELD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63558" y="2660452"/>
            <a:ext cx="6241894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Detect the scam before the victim makes the payment.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63558" y="3469084"/>
            <a:ext cx="6851479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8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AI-POWERED, REAL-TIME CONVERSATION DEFENSE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92793" y="533400"/>
            <a:ext cx="489890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92793" y="817166"/>
            <a:ext cx="4336942" cy="293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292793" y="1263154"/>
            <a:ext cx="489890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92793" y="1666974"/>
            <a:ext cx="433694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3558" y="3810000"/>
            <a:ext cx="507352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100" spc="96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PARTICIPANT DETAILS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3558" y="4183360"/>
            <a:ext cx="4463938" cy="10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Name:</a:t>
            </a: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Navyashree L Manjushree  Rakshitha D Harshitha P</a:t>
            </a:r>
            <a:endParaRPr lang="en-US" sz="1300" dirty="0"/>
          </a:p>
          <a:p>
            <a:pPr marL="0" indent="0" algn="l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Team Name:</a:t>
            </a: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Hackstreet Girls</a:t>
            </a:r>
            <a:endParaRPr lang="en-US" sz="13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Track No:</a:t>
            </a: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T.03 </a:t>
            </a:r>
          </a:p>
          <a:p>
            <a:endParaRPr lang="en-US" sz="1400" dirty="0">
              <a:solidFill>
                <a:schemeClr val="bg2"/>
              </a:solidFill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038799" y="4038600"/>
            <a:ext cx="4590935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450"/>
              </a:spcAft>
              <a:buNone/>
            </a:pP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2C8AD2-F75E-C917-E3AC-52347C278519}"/>
              </a:ext>
            </a:extLst>
          </p:cNvPr>
          <p:cNvSpPr/>
          <p:nvPr/>
        </p:nvSpPr>
        <p:spPr>
          <a:xfrm>
            <a:off x="11056776" y="6447453"/>
            <a:ext cx="1134919" cy="345233"/>
          </a:xfrm>
          <a:prstGeom prst="rect">
            <a:avLst/>
          </a:prstGeom>
          <a:solidFill>
            <a:srgbClr val="01000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263" y="609600"/>
            <a:ext cx="660383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263" y="878185"/>
            <a:ext cx="5994250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ScamShield turns conversation into intelligence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263" y="2590899"/>
            <a:ext cx="5994151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6" name="Text 3"/>
          <p:cNvSpPr/>
          <p:nvPr/>
        </p:nvSpPr>
        <p:spPr>
          <a:xfrm>
            <a:off x="5486263" y="2940248"/>
            <a:ext cx="5994250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Paste or forward any suspicious chat. ScamShield instantly reconstructs the timeline, scores behavioral risk, isolates red-flag evidence, and provides safe, actionable steps.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263" y="4160540"/>
            <a:ext cx="558786" cy="5588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8" name="Text 5"/>
          <p:cNvSpPr/>
          <p:nvPr/>
        </p:nvSpPr>
        <p:spPr>
          <a:xfrm>
            <a:off x="5562957" y="4262140"/>
            <a:ext cx="101488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197445" y="4160540"/>
            <a:ext cx="528306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Multi-turn context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197445" y="4514056"/>
            <a:ext cx="528306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Tracks intent drift across the entire dialogue.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263" y="4924227"/>
            <a:ext cx="558786" cy="5588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2" name="Text 9"/>
          <p:cNvSpPr/>
          <p:nvPr/>
        </p:nvSpPr>
        <p:spPr>
          <a:xfrm>
            <a:off x="5562957" y="5025827"/>
            <a:ext cx="101488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197445" y="4924227"/>
            <a:ext cx="528306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Zero-trust assessment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197445" y="5277743"/>
            <a:ext cx="528306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Evaluates claimed authority against concrete indicators.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86263" y="5687913"/>
            <a:ext cx="558786" cy="5588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6" name="Text 13"/>
          <p:cNvSpPr/>
          <p:nvPr/>
        </p:nvSpPr>
        <p:spPr>
          <a:xfrm>
            <a:off x="5562957" y="5789513"/>
            <a:ext cx="101488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197445" y="5687913"/>
            <a:ext cx="528306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Transparent reasoning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197445" y="6041430"/>
            <a:ext cx="528306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Delivers evidence-backed warnings users actually trust.</a:t>
            </a:r>
            <a:endParaRPr lang="en-US" sz="14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A5DE54-0CEB-BE6D-E716-EE908E277D5D}"/>
              </a:ext>
            </a:extLst>
          </p:cNvPr>
          <p:cNvSpPr/>
          <p:nvPr/>
        </p:nvSpPr>
        <p:spPr>
          <a:xfrm>
            <a:off x="11056776" y="6447453"/>
            <a:ext cx="1134919" cy="345233"/>
          </a:xfrm>
          <a:prstGeom prst="rect">
            <a:avLst/>
          </a:prstGeom>
          <a:solidFill>
            <a:srgbClr val="0D0A2C"/>
          </a:solidFill>
          <a:ln>
            <a:solidFill>
              <a:srgbClr val="0D0A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58800"/>
            <a:ext cx="1137891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827385"/>
            <a:ext cx="10769331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From message to safe action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1182" y="1475581"/>
            <a:ext cx="10769331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100" spc="-5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Five deliberate stages turn raw conversation into an immediate safety decision.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1182" y="2100263"/>
            <a:ext cx="10769331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3149402"/>
            <a:ext cx="1910012" cy="23103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6278" y="3365302"/>
            <a:ext cx="492113" cy="4318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8" name="Text 5"/>
          <p:cNvSpPr/>
          <p:nvPr/>
        </p:nvSpPr>
        <p:spPr>
          <a:xfrm>
            <a:off x="876278" y="3365302"/>
            <a:ext cx="1101697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F2F0F4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76278" y="3884017"/>
            <a:ext cx="1579821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10" name="Text 7"/>
          <p:cNvSpPr/>
          <p:nvPr/>
        </p:nvSpPr>
        <p:spPr>
          <a:xfrm>
            <a:off x="876278" y="3989983"/>
            <a:ext cx="157982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Input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76278" y="4470499"/>
            <a:ext cx="157982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Paste or forward the live chat.</a:t>
            </a:r>
            <a:endParaRPr lang="en-US" sz="14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5888" y="3149402"/>
            <a:ext cx="1910112" cy="231030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090984" y="3365302"/>
            <a:ext cx="492113" cy="4318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4" name="Text 10"/>
          <p:cNvSpPr/>
          <p:nvPr/>
        </p:nvSpPr>
        <p:spPr>
          <a:xfrm>
            <a:off x="3090984" y="3365302"/>
            <a:ext cx="1101697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F2F0F4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Shape 11"/>
          <p:cNvSpPr/>
          <p:nvPr/>
        </p:nvSpPr>
        <p:spPr>
          <a:xfrm>
            <a:off x="3090984" y="3884017"/>
            <a:ext cx="1579920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16" name="Text 12"/>
          <p:cNvSpPr/>
          <p:nvPr/>
        </p:nvSpPr>
        <p:spPr>
          <a:xfrm>
            <a:off x="3090984" y="3989983"/>
            <a:ext cx="157992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Preprocess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3090984" y="4470499"/>
            <a:ext cx="157992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Extract entities, links, and amounts.</a:t>
            </a:r>
            <a:endParaRPr lang="en-US" sz="14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0692" y="3149402"/>
            <a:ext cx="1910211" cy="2310309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305788" y="3365302"/>
            <a:ext cx="492113" cy="4318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20" name="Text 15"/>
          <p:cNvSpPr/>
          <p:nvPr/>
        </p:nvSpPr>
        <p:spPr>
          <a:xfrm>
            <a:off x="5305788" y="3365302"/>
            <a:ext cx="1101697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F2F0F4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21" name="Shape 16"/>
          <p:cNvSpPr/>
          <p:nvPr/>
        </p:nvSpPr>
        <p:spPr>
          <a:xfrm>
            <a:off x="5305788" y="3884017"/>
            <a:ext cx="1579920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22" name="Text 17"/>
          <p:cNvSpPr/>
          <p:nvPr/>
        </p:nvSpPr>
        <p:spPr>
          <a:xfrm>
            <a:off x="5305788" y="3989983"/>
            <a:ext cx="158001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Analyze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5305788" y="4470499"/>
            <a:ext cx="1580019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Combine NLP reasoning with scam patterns.</a:t>
            </a:r>
            <a:endParaRPr lang="en-US" sz="14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5596" y="3149402"/>
            <a:ext cx="1910112" cy="2310309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520692" y="3365302"/>
            <a:ext cx="492113" cy="4318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26" name="Text 20"/>
          <p:cNvSpPr/>
          <p:nvPr/>
        </p:nvSpPr>
        <p:spPr>
          <a:xfrm>
            <a:off x="7520692" y="3365302"/>
            <a:ext cx="1101697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F2F0F4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3400" dirty="0"/>
          </a:p>
        </p:txBody>
      </p:sp>
      <p:sp>
        <p:nvSpPr>
          <p:cNvPr id="27" name="Shape 21"/>
          <p:cNvSpPr/>
          <p:nvPr/>
        </p:nvSpPr>
        <p:spPr>
          <a:xfrm>
            <a:off x="7520692" y="3884017"/>
            <a:ext cx="1579920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28" name="Text 22"/>
          <p:cNvSpPr/>
          <p:nvPr/>
        </p:nvSpPr>
        <p:spPr>
          <a:xfrm>
            <a:off x="7520692" y="3989983"/>
            <a:ext cx="157992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Explain</a:t>
            </a:r>
            <a:endParaRPr lang="en-US" sz="1900" dirty="0"/>
          </a:p>
        </p:txBody>
      </p:sp>
      <p:sp>
        <p:nvSpPr>
          <p:cNvPr id="29" name="Text 23"/>
          <p:cNvSpPr/>
          <p:nvPr/>
        </p:nvSpPr>
        <p:spPr>
          <a:xfrm>
            <a:off x="7520692" y="4470499"/>
            <a:ext cx="157992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Highlight exact signals and tactics.</a:t>
            </a:r>
            <a:endParaRPr lang="en-US" sz="145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0401" y="3149402"/>
            <a:ext cx="1910012" cy="2310309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735497" y="3365302"/>
            <a:ext cx="492113" cy="4318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32" name="Text 25"/>
          <p:cNvSpPr/>
          <p:nvPr/>
        </p:nvSpPr>
        <p:spPr>
          <a:xfrm>
            <a:off x="9735497" y="3365302"/>
            <a:ext cx="1101697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F2F0F4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05</a:t>
            </a:r>
            <a:endParaRPr lang="en-US" sz="3400" dirty="0"/>
          </a:p>
        </p:txBody>
      </p:sp>
      <p:sp>
        <p:nvSpPr>
          <p:cNvPr id="33" name="Shape 26"/>
          <p:cNvSpPr/>
          <p:nvPr/>
        </p:nvSpPr>
        <p:spPr>
          <a:xfrm>
            <a:off x="9735497" y="3884017"/>
            <a:ext cx="1579821" cy="19050"/>
          </a:xfrm>
          <a:prstGeom prst="rect">
            <a:avLst/>
          </a:prstGeom>
          <a:solidFill>
            <a:srgbClr val="D84CFF"/>
          </a:solidFill>
          <a:ln/>
        </p:spPr>
      </p:sp>
      <p:sp>
        <p:nvSpPr>
          <p:cNvPr id="34" name="Text 27"/>
          <p:cNvSpPr/>
          <p:nvPr/>
        </p:nvSpPr>
        <p:spPr>
          <a:xfrm>
            <a:off x="9735497" y="3989983"/>
            <a:ext cx="157982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Act</a:t>
            </a:r>
            <a:endParaRPr lang="en-US" sz="1900" dirty="0"/>
          </a:p>
        </p:txBody>
      </p:sp>
      <p:sp>
        <p:nvSpPr>
          <p:cNvPr id="35" name="Text 28"/>
          <p:cNvSpPr/>
          <p:nvPr/>
        </p:nvSpPr>
        <p:spPr>
          <a:xfrm>
            <a:off x="9735497" y="4470499"/>
            <a:ext cx="157982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Recommend verify, pause, or block.</a:t>
            </a:r>
            <a:endParaRPr lang="en-US" sz="14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E266073-656E-A1F4-8347-287F3E9694CE}"/>
              </a:ext>
            </a:extLst>
          </p:cNvPr>
          <p:cNvSpPr/>
          <p:nvPr/>
        </p:nvSpPr>
        <p:spPr>
          <a:xfrm>
            <a:off x="11056776" y="6447453"/>
            <a:ext cx="1033321" cy="345233"/>
          </a:xfrm>
          <a:prstGeom prst="rect">
            <a:avLst/>
          </a:prstGeom>
          <a:solidFill>
            <a:srgbClr val="0D0A2C"/>
          </a:solidFill>
          <a:ln>
            <a:solidFill>
              <a:srgbClr val="0D0A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08000"/>
            <a:ext cx="1137891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776585"/>
            <a:ext cx="10769331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Architecture built for explainability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1182" y="1573907"/>
            <a:ext cx="10769331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1923256"/>
            <a:ext cx="3437348" cy="20863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476" y="2164556"/>
            <a:ext cx="319605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INPUT LAYER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476" y="2471241"/>
            <a:ext cx="2954760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Text, pasted chat, or exported conversation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322" y="1923256"/>
            <a:ext cx="3284951" cy="20863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94616" y="2164556"/>
            <a:ext cx="304365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NLP LAYER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694616" y="2471241"/>
            <a:ext cx="280236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Entities, intent, urgency, and requests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3066" y="1923256"/>
            <a:ext cx="3437348" cy="20863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84360" y="2164556"/>
            <a:ext cx="319605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AI LAYER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284360" y="2471241"/>
            <a:ext cx="2954760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Scam classification and contextual reasoning</a:t>
            </a:r>
            <a:endParaRPr lang="en-US" sz="1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182" y="4314428"/>
            <a:ext cx="3437348" cy="20863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2476" y="4555728"/>
            <a:ext cx="319605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KNOWLEDGE LAYER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952476" y="4862413"/>
            <a:ext cx="2954760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Continuously updated scam-pattern library</a:t>
            </a:r>
            <a:endParaRPr lang="en-US" sz="17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3322" y="4314428"/>
            <a:ext cx="3284951" cy="20863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94616" y="4555728"/>
            <a:ext cx="304365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RISK ENGINE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694616" y="4862413"/>
            <a:ext cx="280236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Weighted evidence becomes a 0–100 score</a:t>
            </a:r>
            <a:endParaRPr lang="en-US" sz="17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3066" y="4314428"/>
            <a:ext cx="3437348" cy="20863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284360" y="4555728"/>
            <a:ext cx="319605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EXPLAINABILITY + PRIVACY LAYERS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8284360" y="4862413"/>
            <a:ext cx="2954760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Turn technical signals into human guidance while minimizing storage.</a:t>
            </a:r>
            <a:endParaRPr lang="en-US" sz="17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14D565-EEE5-395C-0B54-C4D88867EAE2}"/>
              </a:ext>
            </a:extLst>
          </p:cNvPr>
          <p:cNvSpPr/>
          <p:nvPr/>
        </p:nvSpPr>
        <p:spPr>
          <a:xfrm>
            <a:off x="11056776" y="6447453"/>
            <a:ext cx="1134919" cy="345233"/>
          </a:xfrm>
          <a:prstGeom prst="rect">
            <a:avLst/>
          </a:prstGeom>
          <a:solidFill>
            <a:srgbClr val="0D0A2C"/>
          </a:solidFill>
          <a:ln>
            <a:solidFill>
              <a:srgbClr val="0D0A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58800"/>
            <a:ext cx="1137891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DECISION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827385"/>
            <a:ext cx="10769331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Data flow: evidence before alarm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1182" y="1475581"/>
            <a:ext cx="10769331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100" spc="-5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Transparent synthesis avoids false alarms by grounding every risk assessment in clear signals.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1182" y="2445643"/>
            <a:ext cx="10769331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6" name="Shape 4"/>
          <p:cNvSpPr/>
          <p:nvPr/>
        </p:nvSpPr>
        <p:spPr>
          <a:xfrm>
            <a:off x="888978" y="3183632"/>
            <a:ext cx="369085" cy="32385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7" name="Text 5"/>
          <p:cNvSpPr/>
          <p:nvPr/>
        </p:nvSpPr>
        <p:spPr>
          <a:xfrm>
            <a:off x="888978" y="3183632"/>
            <a:ext cx="97866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5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88978" y="3593207"/>
            <a:ext cx="233674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Segment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88978" y="4073723"/>
            <a:ext cx="233674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Conversation is broken into an ordered timeline of sender and recipient exchanges.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581310" y="3183632"/>
            <a:ext cx="369085" cy="32385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1" name="Text 9"/>
          <p:cNvSpPr/>
          <p:nvPr/>
        </p:nvSpPr>
        <p:spPr>
          <a:xfrm>
            <a:off x="3581310" y="3183632"/>
            <a:ext cx="97866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5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3581310" y="3593207"/>
            <a:ext cx="233674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Extract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81310" y="4073723"/>
            <a:ext cx="233674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Signals isolated: authority claims, time pressure, emotional levers, and credential asks.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73643" y="3183632"/>
            <a:ext cx="369085" cy="32385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5" name="Text 13"/>
          <p:cNvSpPr/>
          <p:nvPr/>
        </p:nvSpPr>
        <p:spPr>
          <a:xfrm>
            <a:off x="6273643" y="3183632"/>
            <a:ext cx="97866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5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273643" y="3593207"/>
            <a:ext cx="233674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Contextualize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273643" y="4073723"/>
            <a:ext cx="233674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Extracted triggers are combined with conversation context and historical fraud playbooks.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965976" y="3183632"/>
            <a:ext cx="369085" cy="32385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9" name="Text 17"/>
          <p:cNvSpPr/>
          <p:nvPr/>
        </p:nvSpPr>
        <p:spPr>
          <a:xfrm>
            <a:off x="8965976" y="3183632"/>
            <a:ext cx="97866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5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8965976" y="3593207"/>
            <a:ext cx="233674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Synthesize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965976" y="4073723"/>
            <a:ext cx="233674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Engine returns overall risk level, likely scam category, verifiable evidence, and next steps.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11182" y="5810845"/>
            <a:ext cx="10769331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23" name="Text 21"/>
          <p:cNvSpPr/>
          <p:nvPr/>
        </p:nvSpPr>
        <p:spPr>
          <a:xfrm>
            <a:off x="711182" y="6160195"/>
            <a:ext cx="1137891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alarm is paired with its contributing factors so the user understands the decision.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97165" y="3031232"/>
            <a:ext cx="12700" cy="2225973"/>
          </a:xfrm>
          <a:prstGeom prst="rect">
            <a:avLst/>
          </a:prstGeom>
          <a:solidFill>
            <a:srgbClr val="3B315E"/>
          </a:solidFill>
          <a:ln/>
        </p:spPr>
      </p:sp>
      <p:sp>
        <p:nvSpPr>
          <p:cNvPr id="25" name="Shape 23"/>
          <p:cNvSpPr/>
          <p:nvPr/>
        </p:nvSpPr>
        <p:spPr>
          <a:xfrm>
            <a:off x="6089498" y="3031232"/>
            <a:ext cx="12700" cy="2225973"/>
          </a:xfrm>
          <a:prstGeom prst="rect">
            <a:avLst/>
          </a:prstGeom>
          <a:solidFill>
            <a:srgbClr val="3B315E"/>
          </a:solidFill>
          <a:ln/>
        </p:spPr>
      </p:sp>
      <p:sp>
        <p:nvSpPr>
          <p:cNvPr id="26" name="Shape 24"/>
          <p:cNvSpPr/>
          <p:nvPr/>
        </p:nvSpPr>
        <p:spPr>
          <a:xfrm>
            <a:off x="8781830" y="3031232"/>
            <a:ext cx="12700" cy="2225973"/>
          </a:xfrm>
          <a:prstGeom prst="rect">
            <a:avLst/>
          </a:prstGeom>
          <a:solidFill>
            <a:srgbClr val="3B315E"/>
          </a:solidFill>
          <a:ln/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D693FE-8FAB-CAA8-0968-D6C82AE908F8}"/>
              </a:ext>
            </a:extLst>
          </p:cNvPr>
          <p:cNvSpPr/>
          <p:nvPr/>
        </p:nvSpPr>
        <p:spPr>
          <a:xfrm>
            <a:off x="11056776" y="6447453"/>
            <a:ext cx="1134919" cy="345233"/>
          </a:xfrm>
          <a:prstGeom prst="rect">
            <a:avLst/>
          </a:prstGeom>
          <a:solidFill>
            <a:srgbClr val="0D0A2C"/>
          </a:solidFill>
          <a:ln>
            <a:solidFill>
              <a:srgbClr val="0D0A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4766"/>
            <a:ext cx="619744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LIVE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933351"/>
            <a:ext cx="5638659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Demo: one OTP request, three red flags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1182" y="2188369"/>
            <a:ext cx="5638659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2537718"/>
            <a:ext cx="5638659" cy="5371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7077" y="2677418"/>
            <a:ext cx="542276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“I am from your bank security team.”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82" y="3227288"/>
            <a:ext cx="5638659" cy="5371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7077" y="3366988"/>
            <a:ext cx="542276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“Your account will be blocked today.”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82" y="3916859"/>
            <a:ext cx="5638659" cy="5371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7077" y="4056559"/>
            <a:ext cx="542276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“Please share the OTP to verify your identity.”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711182" y="4631829"/>
            <a:ext cx="5638659" cy="1612106"/>
          </a:xfrm>
          <a:prstGeom prst="roundRect">
            <a:avLst>
              <a:gd name="adj" fmla="val 13235"/>
            </a:avLst>
          </a:prstGeom>
          <a:solidFill>
            <a:srgbClr val="18113D"/>
          </a:solidFill>
          <a:ln w="12700">
            <a:solidFill>
              <a:srgbClr val="F2F0F4">
                <a:alpha val="14000"/>
              </a:srgbClr>
            </a:solidFill>
            <a:prstDash val="solid"/>
          </a:ln>
          <a:effectLst>
            <a:outerShdw blurRad="127" dist="11430" dir="5400000" algn="bl" rotWithShape="0">
              <a:srgbClr val="F2F0F4">
                <a:alpha val="10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952476" y="4796929"/>
            <a:ext cx="539736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SCAMSHIELD VERDICT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952476" y="5065514"/>
            <a:ext cx="5156071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100" spc="-5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HIGH RISK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952476" y="5563295"/>
            <a:ext cx="515607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Output: HIGH RISK — authority impersonation + fear/urgency + credential request.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681361"/>
            <a:ext cx="660383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INTERVENTION PHILOSOPHY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1949946"/>
            <a:ext cx="5994250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warning should tell people what to do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1182" y="3204964"/>
            <a:ext cx="5994151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3554313"/>
            <a:ext cx="5994250" cy="167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Risk: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High risk — possible bank impersonation scam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Evidence: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urgency + authority impersonation + OTP request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Action: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do not share the OTP; contact the bank through its official channel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Design principle: interrupt the moment before compliance.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69417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253994" y="152400"/>
            <a:ext cx="1193770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8FA8C7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SCAMSHIELD · PRODUCT WALKTHROUGH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53994" y="420985"/>
            <a:ext cx="11683708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500" kern="100" spc="-62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Project Screenshots — From Input to Safe Action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253994" y="970260"/>
            <a:ext cx="11937701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C7D4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five-step path from suspicious message to confident next move.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0" y="1521718"/>
            <a:ext cx="12191695" cy="2426891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7" name="Shape 5"/>
          <p:cNvSpPr/>
          <p:nvPr/>
        </p:nvSpPr>
        <p:spPr>
          <a:xfrm>
            <a:off x="253994" y="1521718"/>
            <a:ext cx="3792939" cy="2401491"/>
          </a:xfrm>
          <a:prstGeom prst="rect">
            <a:avLst/>
          </a:prstGeom>
          <a:solidFill>
            <a:srgbClr val="111D31"/>
          </a:solidFill>
          <a:ln/>
        </p:spPr>
      </p:sp>
      <p:sp>
        <p:nvSpPr>
          <p:cNvPr id="8" name="Shape 6"/>
          <p:cNvSpPr/>
          <p:nvPr/>
        </p:nvSpPr>
        <p:spPr>
          <a:xfrm>
            <a:off x="342891" y="1610618"/>
            <a:ext cx="897709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369" y="1675309"/>
            <a:ext cx="124833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109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STEP 1</a:t>
            </a:r>
            <a:endParaRPr lang="en-US" sz="13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91" y="2137767"/>
            <a:ext cx="694415" cy="9905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2891" y="3318768"/>
            <a:ext cx="3615143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Open ScamShield</a:t>
            </a:r>
            <a:endParaRPr lang="en-US" sz="14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AFC0D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Start at the landing page.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199329" y="1521718"/>
            <a:ext cx="3792939" cy="2401491"/>
          </a:xfrm>
          <a:prstGeom prst="rect">
            <a:avLst/>
          </a:prstGeom>
          <a:solidFill>
            <a:srgbClr val="111D31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8226" y="1610618"/>
            <a:ext cx="897709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17704" y="1675309"/>
            <a:ext cx="124833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109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STEP 2</a:t>
            </a:r>
            <a:endParaRPr lang="en-US" sz="13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226" y="2137767"/>
            <a:ext cx="672190" cy="9905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88226" y="3318768"/>
            <a:ext cx="3615143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Paste the conversation</a:t>
            </a:r>
            <a:endParaRPr lang="en-US" sz="14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AFC0D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Bring the suspicious exchange into view.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8144663" y="1521718"/>
            <a:ext cx="3792939" cy="2401491"/>
          </a:xfrm>
          <a:prstGeom prst="rect">
            <a:avLst/>
          </a:prstGeom>
          <a:solidFill>
            <a:srgbClr val="111D31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3561" y="1610618"/>
            <a:ext cx="897709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363038" y="1675309"/>
            <a:ext cx="124833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109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STEP 3</a:t>
            </a:r>
            <a:endParaRPr lang="en-US" sz="13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3561" y="2137767"/>
            <a:ext cx="610577" cy="99050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33561" y="3318768"/>
            <a:ext cx="3615143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Receive the risk verdict</a:t>
            </a:r>
            <a:endParaRPr lang="en-US" sz="14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AFC0D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See the threat level at a glance.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0" y="4100909"/>
            <a:ext cx="12191695" cy="2757091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3" name="Shape 18"/>
          <p:cNvSpPr/>
          <p:nvPr/>
        </p:nvSpPr>
        <p:spPr>
          <a:xfrm>
            <a:off x="253994" y="4126309"/>
            <a:ext cx="5765656" cy="2604691"/>
          </a:xfrm>
          <a:prstGeom prst="rect">
            <a:avLst/>
          </a:prstGeom>
          <a:solidFill>
            <a:srgbClr val="111D31"/>
          </a:solidFill>
          <a:ln/>
        </p:spPr>
      </p:sp>
      <p:sp>
        <p:nvSpPr>
          <p:cNvPr id="24" name="Shape 19"/>
          <p:cNvSpPr/>
          <p:nvPr/>
        </p:nvSpPr>
        <p:spPr>
          <a:xfrm>
            <a:off x="342891" y="4215209"/>
            <a:ext cx="897709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2369" y="4279900"/>
            <a:ext cx="124833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109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STEP 4</a:t>
            </a:r>
            <a:endParaRPr lang="en-US" sz="135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891" y="4742359"/>
            <a:ext cx="1275227" cy="119370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42891" y="6126559"/>
            <a:ext cx="558786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Review highlighted evidence</a:t>
            </a:r>
            <a:endParaRPr lang="en-US" sz="14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AFC0D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Trace the red flags in the timeline.</a:t>
            </a:r>
            <a:endParaRPr lang="en-US" sz="1450" dirty="0"/>
          </a:p>
        </p:txBody>
      </p:sp>
      <p:sp>
        <p:nvSpPr>
          <p:cNvPr id="28" name="Shape 22"/>
          <p:cNvSpPr/>
          <p:nvPr/>
        </p:nvSpPr>
        <p:spPr>
          <a:xfrm>
            <a:off x="6172046" y="4126309"/>
            <a:ext cx="5765656" cy="2604691"/>
          </a:xfrm>
          <a:prstGeom prst="rect">
            <a:avLst/>
          </a:prstGeom>
          <a:solidFill>
            <a:srgbClr val="111D31"/>
          </a:solidFill>
          <a:ln/>
        </p:spPr>
      </p:sp>
      <p:sp>
        <p:nvSpPr>
          <p:cNvPr id="29" name="Shape 23"/>
          <p:cNvSpPr/>
          <p:nvPr/>
        </p:nvSpPr>
        <p:spPr>
          <a:xfrm>
            <a:off x="6260943" y="4215209"/>
            <a:ext cx="897709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390421" y="4279900"/>
            <a:ext cx="124833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109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STEP 5</a:t>
            </a:r>
            <a:endParaRPr lang="en-US" sz="135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0943" y="4742359"/>
            <a:ext cx="554520" cy="1193701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260943" y="6126559"/>
            <a:ext cx="558786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Follow the safe-action flow</a:t>
            </a:r>
            <a:endParaRPr lang="en-US" sz="14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AFC0D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Know exactly what to do next.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797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660383" y="609600"/>
            <a:ext cx="2727356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9861" y="674291"/>
            <a:ext cx="3077986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109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SCAMSHIELD · STAY ALERT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0383" y="2071787"/>
            <a:ext cx="6807030" cy="99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8200" kern="100" spc="-287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Thank You</a:t>
            </a:r>
            <a:endParaRPr lang="en-US" sz="8200" dirty="0"/>
          </a:p>
        </p:txBody>
      </p:sp>
      <p:sp>
        <p:nvSpPr>
          <p:cNvPr id="6" name="Shape 4"/>
          <p:cNvSpPr/>
          <p:nvPr/>
        </p:nvSpPr>
        <p:spPr>
          <a:xfrm>
            <a:off x="660383" y="3338215"/>
            <a:ext cx="2246157" cy="38100"/>
          </a:xfrm>
          <a:prstGeom prst="roundRect">
            <a:avLst>
              <a:gd name="adj" fmla="val 49999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660383" y="3620790"/>
            <a:ext cx="6807030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Pause before you click: verify the sender, inspect the request, and never share OTPs, passwords, or sensitive information.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0383" y="5315248"/>
            <a:ext cx="741661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Questions, ideas, or a message that does not feel right? Stop. Check. Protect.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0383" y="5867003"/>
            <a:ext cx="6807030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Hackstreet Girls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8127797" y="0"/>
            <a:ext cx="4063898" cy="6858000"/>
          </a:xfrm>
          <a:prstGeom prst="rect">
            <a:avLst/>
          </a:prstGeom>
          <a:solidFill>
            <a:srgbClr val="132238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851" y="1143000"/>
            <a:ext cx="431789" cy="431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092973" y="1765300"/>
            <a:ext cx="2133547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Protected by awareness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092973" y="2746573"/>
            <a:ext cx="2133547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moment of caution can stop the attack.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772</Words>
  <Application>Microsoft Office PowerPoint</Application>
  <PresentationFormat>Widescreen</PresentationFormat>
  <Paragraphs>121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Heebo Medium</vt:lpstr>
      <vt:lpstr>Montserrat SemiBold</vt:lpstr>
      <vt:lpstr>Heebo Bold</vt:lpstr>
      <vt:lpstr>Heebo Light</vt:lpstr>
      <vt:lpstr>Arial</vt:lpstr>
      <vt:lpstr>Heebo</vt:lpstr>
      <vt:lpstr>Montserrat Medium</vt:lpstr>
      <vt:lpstr>Heebo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lastModifiedBy>DELL</cp:lastModifiedBy>
  <cp:revision>5</cp:revision>
  <dcterms:created xsi:type="dcterms:W3CDTF">2026-10-03T17:26:35Z</dcterms:created>
  <dcterms:modified xsi:type="dcterms:W3CDTF">2026-10-06T04:17:17Z</dcterms:modified>
</cp:coreProperties>
</file>